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3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tofamiliya" initials="E" lastIdx="1" clrIdx="0">
    <p:extLst>
      <p:ext uri="{19B8F6BF-5375-455C-9EA6-DF929625EA0E}">
        <p15:presenceInfo xmlns:p15="http://schemas.microsoft.com/office/powerpoint/2012/main" userId="Etofamil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9E"/>
    <a:srgbClr val="FF5050"/>
    <a:srgbClr val="FF3399"/>
    <a:srgbClr val="820263"/>
    <a:srgbClr val="2E294E"/>
    <a:srgbClr val="7A28CB"/>
    <a:srgbClr val="FC60A8"/>
    <a:srgbClr val="DDFC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FA45A-AC5B-4117-B063-BC491D61763D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6375D-55C6-4CA9-B05A-AA8DB76B4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22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42990-2965-4C2D-9264-221B1CD8D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3C3E8E-87FF-42AC-B4CD-57D54A9A6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7E73E9-FF21-437C-B343-D05B4E53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E87CE7-CA51-4FAE-B6F1-226B955D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86B48E-633F-4BF6-9CF3-BC171B80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88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09D15-220C-46F9-A6F6-A068A650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1FF02-B324-4AD3-ABC8-24DC3313B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02D96B-70B4-4C83-B6AB-53B8D6C1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5B07CF-2B83-4870-B49C-E9D8FA95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A6666-6ED2-425A-8C23-5016BFA50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807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86478-90D9-493E-9B16-4C46D150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6D6CEF-EF5D-4CF2-B047-D55D9FF27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3202C2-1B1A-416A-B380-B2C94150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54D2A-E20F-4954-8B7C-91F9E728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E8C64-658C-402E-84C8-D6B3918D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608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D388E-84D9-4743-907A-771E8C0E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D103C-E919-4D25-9024-59AA4CC60F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FAADCC-0881-4DCB-BDEF-B281C775C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E48D49-EEEE-439A-A855-C2D1F23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22C739-9C99-432E-8372-E3E64101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B2009F-D6C4-4043-9BF4-09771574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383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7DA5D-29CB-46B0-B69D-CC95F709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396576-3C3B-45B7-9E40-134202B0C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D5EC8D-510F-4E0F-AB85-092B4547D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3C57D7-C911-4F1B-B5E4-ACC121A9E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10AA4BC-9CB4-45DC-93B0-0D78BDC70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D9148D-4137-4CBA-8E94-4682EFBB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E1078C-6944-410C-AEDC-3121301E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206CDB0-6536-43E9-A9C9-F62E7537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323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9080D-6DFD-4942-B19C-CB3165F8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B39A1D5-25AF-4225-82E6-2894D225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6341CE-BE4C-456D-818D-A1A00038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F87000-89A4-44D0-A37C-B7458530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14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6089E7-6BB3-46C8-86E0-3C3540AB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B3DD79-C417-4E9C-93A7-7ACB3924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133D0E-F388-497F-AB6D-C7339390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56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A35AA2-BCA2-477E-8268-4BDCD7901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8B052-EBFD-4671-BBB6-ACA58A7F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890662-ED99-4C3C-A844-1C273FB10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612601-E745-4582-A03F-297B8161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89D1B6-A912-4574-A213-63E1F686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C1A2E6-6D99-43BE-A699-B90231A0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88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80541-FBDB-4E64-ACE4-1E6BEC6A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EC72C0-E476-4D0F-84BB-538EB6EE4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B7677C-6DE7-4818-9407-D19F3548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3734F6-A491-4B5C-B763-4108FEDF9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BDDE98-4280-4A3B-B668-A3559E68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4DFEF9-4223-4C91-946E-4B775154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3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62195-4EA8-4861-BC51-6A0CDC1D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0401DF-DB6F-4B2E-A36C-6C536403F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73F46C-D299-4D76-BBFD-12191AE9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E13174-7549-4F00-8CBC-F9E83FA9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10FF8D-9E81-4C20-97B7-016AB7D4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92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361F6C-A15D-42EE-8AD3-10AA9315A6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CE22DD-255B-445F-9969-791DCB10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490FD6-4F60-43B9-A6EB-B697E3C8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C43D6F-6516-4898-A2B6-05E473A7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FF8F84-B211-43FD-A251-4E46D742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64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7BB33-AC93-41F4-844B-49609EE1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1B9E09-0ECD-41F6-B521-31287E1F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9DCB6D-BAC3-4B1B-9DDC-46DEBA8F3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AE8F8-8C84-4523-94E4-28F28B13C9DA}" type="datetimeFigureOut">
              <a:rPr lang="ru-RU" smtClean="0"/>
              <a:t>08.02.2026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ADC6E6-6C00-4D92-95B6-FC02E84DF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5B855-EB71-408E-99B7-9D711E918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73BE8-E30A-457B-98C5-BAC18D179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34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B34A16-6693-4299-899F-7E02278BEC3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76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DAA7CD-14C7-4522-A4E6-E642B343272A}"/>
              </a:ext>
            </a:extLst>
          </p:cNvPr>
          <p:cNvSpPr/>
          <p:nvPr/>
        </p:nvSpPr>
        <p:spPr>
          <a:xfrm>
            <a:off x="0" y="-150471"/>
            <a:ext cx="12192000" cy="139409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Описание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B8E8E-68C5-45B4-9D34-EB4EF68ED49B}"/>
              </a:ext>
            </a:extLst>
          </p:cNvPr>
          <p:cNvSpPr txBox="1"/>
          <p:nvPr/>
        </p:nvSpPr>
        <p:spPr>
          <a:xfrm>
            <a:off x="902825" y="2268638"/>
            <a:ext cx="10394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«Подвезёт» — такси-сервис для организации взаимовыгодных совместных попутных поездок.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4C9A4-2928-4170-BA2C-BF492452B3ED}"/>
              </a:ext>
            </a:extLst>
          </p:cNvPr>
          <p:cNvSpPr txBox="1"/>
          <p:nvPr/>
        </p:nvSpPr>
        <p:spPr>
          <a:xfrm>
            <a:off x="902825" y="3830427"/>
            <a:ext cx="10394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Цель проекта — соединить водителей и пассажиров, которым по пути, снизив стоимость поездки как для пассажира, так и  для водителя.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8922D18-7C0B-497B-AB85-C67DF12C3609}"/>
              </a:ext>
            </a:extLst>
          </p:cNvPr>
          <p:cNvSpPr/>
          <p:nvPr/>
        </p:nvSpPr>
        <p:spPr>
          <a:xfrm>
            <a:off x="475488" y="2633472"/>
            <a:ext cx="97536" cy="10363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5FF8B457-8E77-4F73-B81C-076D45EFE3D9}"/>
              </a:ext>
            </a:extLst>
          </p:cNvPr>
          <p:cNvSpPr/>
          <p:nvPr/>
        </p:nvSpPr>
        <p:spPr>
          <a:xfrm>
            <a:off x="481893" y="4378775"/>
            <a:ext cx="97536" cy="10363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28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DAA7CD-14C7-4522-A4E6-E642B343272A}"/>
              </a:ext>
            </a:extLst>
          </p:cNvPr>
          <p:cNvSpPr/>
          <p:nvPr/>
        </p:nvSpPr>
        <p:spPr>
          <a:xfrm>
            <a:off x="0" y="-150471"/>
            <a:ext cx="12192000" cy="139409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Клиентские интерфейсы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B8E8E-68C5-45B4-9D34-EB4EF68ED49B}"/>
              </a:ext>
            </a:extLst>
          </p:cNvPr>
          <p:cNvSpPr txBox="1"/>
          <p:nvPr/>
        </p:nvSpPr>
        <p:spPr>
          <a:xfrm>
            <a:off x="1400665" y="1775567"/>
            <a:ext cx="98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Telegram-</a:t>
            </a:r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бот – ключевой интерфейс проекта: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4C9A4-2928-4170-BA2C-BF492452B3ED}"/>
              </a:ext>
            </a:extLst>
          </p:cNvPr>
          <p:cNvSpPr txBox="1"/>
          <p:nvPr/>
        </p:nvSpPr>
        <p:spPr>
          <a:xfrm>
            <a:off x="1400665" y="3849684"/>
            <a:ext cx="9892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Веб-сайт – Основная платформа для привлечения внимания к проекту, с полным функционалом.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A7295A-176F-4EEF-937F-13BAC770C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32" y="1775567"/>
            <a:ext cx="461666" cy="461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442BA0-5B18-45EB-846E-7EF3ABB67BB1}"/>
              </a:ext>
            </a:extLst>
          </p:cNvPr>
          <p:cNvSpPr txBox="1"/>
          <p:nvPr/>
        </p:nvSpPr>
        <p:spPr>
          <a:xfrm>
            <a:off x="1400665" y="5133721"/>
            <a:ext cx="9892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Мобильное приложение – вспомогательный способ взаимодействия с пользователем.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9E8D7-CD29-4CEA-BE72-6193DE8A5730}"/>
              </a:ext>
            </a:extLst>
          </p:cNvPr>
          <p:cNvSpPr txBox="1"/>
          <p:nvPr/>
        </p:nvSpPr>
        <p:spPr>
          <a:xfrm>
            <a:off x="1400665" y="2526952"/>
            <a:ext cx="7598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«Приложение для вызова такси» уже на Вашем телефоне.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6B911C-DC04-4827-9B4C-FB850BB9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32" y="4034350"/>
            <a:ext cx="458306" cy="46166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E01F2B-4417-4FDF-BB25-C389E8EC7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32" y="5320067"/>
            <a:ext cx="458306" cy="45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2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997E9-011A-41D4-8BF9-DB7E2BA917DB}"/>
              </a:ext>
            </a:extLst>
          </p:cNvPr>
          <p:cNvSpPr txBox="1"/>
          <p:nvPr/>
        </p:nvSpPr>
        <p:spPr>
          <a:xfrm>
            <a:off x="910541" y="2593693"/>
            <a:ext cx="10370917" cy="229082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В реальной жизни проекты такого типа, скорее всего, никто не будет запускать. Но представим, что у нас богатая компания, которая может позволить себе выделить </a:t>
            </a:r>
            <a:r>
              <a:rPr lang="ru-RU" u="sng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небольшую команду </a:t>
            </a: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на «рисковые» проекты. Тогда договоримся, что сначала мы делаем MVP, закупаем рекламу и через пару кварталов решаем — </a:t>
            </a:r>
            <a:r>
              <a:rPr lang="ru-RU" u="sng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дорабатывать проект</a:t>
            </a: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 дальше или закрывать его.</a:t>
            </a:r>
          </a:p>
        </p:txBody>
      </p:sp>
    </p:spTree>
    <p:extLst>
      <p:ext uri="{BB962C8B-B14F-4D97-AF65-F5344CB8AC3E}">
        <p14:creationId xmlns:p14="http://schemas.microsoft.com/office/powerpoint/2010/main" val="4070896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DAA7CD-14C7-4522-A4E6-E642B343272A}"/>
              </a:ext>
            </a:extLst>
          </p:cNvPr>
          <p:cNvSpPr/>
          <p:nvPr/>
        </p:nvSpPr>
        <p:spPr>
          <a:xfrm>
            <a:off x="0" y="-150471"/>
            <a:ext cx="12192000" cy="139409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Выбор методологии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B8E8E-68C5-45B4-9D34-EB4EF68ED49B}"/>
              </a:ext>
            </a:extLst>
          </p:cNvPr>
          <p:cNvSpPr txBox="1"/>
          <p:nvPr/>
        </p:nvSpPr>
        <p:spPr>
          <a:xfrm>
            <a:off x="1503556" y="2495381"/>
            <a:ext cx="8287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Внутренний продукт  =  Все требования известны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4C9A4-2928-4170-BA2C-BF492452B3ED}"/>
              </a:ext>
            </a:extLst>
          </p:cNvPr>
          <p:cNvSpPr txBox="1"/>
          <p:nvPr/>
        </p:nvSpPr>
        <p:spPr>
          <a:xfrm>
            <a:off x="1503556" y="3429000"/>
            <a:ext cx="8804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Необходимость быстрого релиза первой версии, </a:t>
            </a:r>
          </a:p>
          <a:p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с последующей доработкой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5FF8B457-8E77-4F73-B81C-076D45EFE3D9}"/>
              </a:ext>
            </a:extLst>
          </p:cNvPr>
          <p:cNvSpPr/>
          <p:nvPr/>
        </p:nvSpPr>
        <p:spPr>
          <a:xfrm>
            <a:off x="1197563" y="3844498"/>
            <a:ext cx="97536" cy="10363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D5FA03-5E19-454F-86CA-977682B9051A}"/>
              </a:ext>
            </a:extLst>
          </p:cNvPr>
          <p:cNvSpPr txBox="1"/>
          <p:nvPr/>
        </p:nvSpPr>
        <p:spPr>
          <a:xfrm>
            <a:off x="1531289" y="1444358"/>
            <a:ext cx="91294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Факторы, которые нужно учитывать при выборе: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D3BA2235-40FC-4803-A785-3AC3264DF024}"/>
              </a:ext>
            </a:extLst>
          </p:cNvPr>
          <p:cNvCxnSpPr>
            <a:cxnSpLocks/>
          </p:cNvCxnSpPr>
          <p:nvPr/>
        </p:nvCxnSpPr>
        <p:spPr>
          <a:xfrm>
            <a:off x="1225296" y="4785360"/>
            <a:ext cx="93614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09190A-121B-45B2-AE88-D8606B3B7C0D}"/>
              </a:ext>
            </a:extLst>
          </p:cNvPr>
          <p:cNvSpPr txBox="1"/>
          <p:nvPr/>
        </p:nvSpPr>
        <p:spPr>
          <a:xfrm>
            <a:off x="1322832" y="5124369"/>
            <a:ext cx="9337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Инкрементная модель как основная методология при реализации данного проекта.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A002E69-E8F6-418B-AFE7-3D318D3A8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030" y="3527369"/>
            <a:ext cx="565492" cy="565492"/>
          </a:xfrm>
          <a:prstGeom prst="rect">
            <a:avLst/>
          </a:prstGeom>
        </p:spPr>
      </p:pic>
      <p:sp>
        <p:nvSpPr>
          <p:cNvPr id="15" name="Овал 14">
            <a:extLst>
              <a:ext uri="{FF2B5EF4-FFF2-40B4-BE49-F238E27FC236}">
                <a16:creationId xmlns:a16="http://schemas.microsoft.com/office/drawing/2014/main" id="{30650860-FE73-4337-BF21-419D7573C428}"/>
              </a:ext>
            </a:extLst>
          </p:cNvPr>
          <p:cNvSpPr/>
          <p:nvPr/>
        </p:nvSpPr>
        <p:spPr>
          <a:xfrm>
            <a:off x="1197563" y="2674397"/>
            <a:ext cx="97536" cy="10363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897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4997E9-011A-41D4-8BF9-DB7E2BA917DB}"/>
              </a:ext>
            </a:extLst>
          </p:cNvPr>
          <p:cNvSpPr txBox="1"/>
          <p:nvPr/>
        </p:nvSpPr>
        <p:spPr>
          <a:xfrm>
            <a:off x="910541" y="2593693"/>
            <a:ext cx="10370917" cy="16706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Как обычно, нам не обязательно строго придерживаться одной методологии. Для управления задачами на проекте можно использовать </a:t>
            </a:r>
            <a:r>
              <a:rPr lang="en-US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Kanban</a:t>
            </a: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-доску. Мы также можем, например, взять CI/CD-подход из </a:t>
            </a:r>
            <a:r>
              <a:rPr lang="ru-RU" dirty="0" err="1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DevOps</a:t>
            </a:r>
            <a:r>
              <a:rPr lang="ru-RU" dirty="0">
                <a:latin typeface="Bahnschrift Light" panose="020B0502040204020203" pitchFamily="34" charset="0"/>
                <a:ea typeface="Fast_Serif" panose="02020602040305020204" pitchFamily="18" charset="0"/>
                <a:cs typeface="Fast_Serif" panose="02020602040305020204" pitchFamily="18" charset="0"/>
              </a:rPr>
              <a:t> — это позволит сэкономить на тестировщике и ускорить разработку.</a:t>
            </a:r>
          </a:p>
        </p:txBody>
      </p:sp>
    </p:spTree>
    <p:extLst>
      <p:ext uri="{BB962C8B-B14F-4D97-AF65-F5344CB8AC3E}">
        <p14:creationId xmlns:p14="http://schemas.microsoft.com/office/powerpoint/2010/main" val="197037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DAA7CD-14C7-4522-A4E6-E642B343272A}"/>
              </a:ext>
            </a:extLst>
          </p:cNvPr>
          <p:cNvSpPr/>
          <p:nvPr/>
        </p:nvSpPr>
        <p:spPr>
          <a:xfrm>
            <a:off x="0" y="-150471"/>
            <a:ext cx="12192000" cy="139409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Команда 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8B09F-D6EB-49BD-A096-49A189311060}"/>
              </a:ext>
            </a:extLst>
          </p:cNvPr>
          <p:cNvSpPr txBox="1"/>
          <p:nvPr/>
        </p:nvSpPr>
        <p:spPr>
          <a:xfrm>
            <a:off x="1186789" y="2122127"/>
            <a:ext cx="10191123" cy="10940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500"/>
              </a:lnSpc>
            </a:pPr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Менеджер проекта – Человек, ответственный за достижение целей проекта. Берет на себя весь спектр управленческих функций(планирование, контроль, организация, координация)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93D09-418E-44F7-9DC0-B7A34DA600A6}"/>
              </a:ext>
            </a:extLst>
          </p:cNvPr>
          <p:cNvSpPr txBox="1"/>
          <p:nvPr/>
        </p:nvSpPr>
        <p:spPr>
          <a:xfrm>
            <a:off x="1186790" y="3598811"/>
            <a:ext cx="10191123" cy="9664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Системный аналитик опишет бизнес-логику, пользовательские сценарии и </a:t>
            </a:r>
          </a:p>
          <a:p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сформирует требования, которым должен удовлетворять наш продукт, в виде ТЗ.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5DE1B7-08AB-420E-B5A5-8D784FD111D7}"/>
              </a:ext>
            </a:extLst>
          </p:cNvPr>
          <p:cNvSpPr/>
          <p:nvPr/>
        </p:nvSpPr>
        <p:spPr>
          <a:xfrm>
            <a:off x="833845" y="3867979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1A81D7-E117-4064-A1F7-632F1801D4ED}"/>
              </a:ext>
            </a:extLst>
          </p:cNvPr>
          <p:cNvSpPr txBox="1"/>
          <p:nvPr/>
        </p:nvSpPr>
        <p:spPr>
          <a:xfrm>
            <a:off x="1186790" y="4947921"/>
            <a:ext cx="10191123" cy="1094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UI/UX</a:t>
            </a:r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 дизайнер будет заниматься созданием удобных и привлекательных интерфейсов, подбором цветовых схем, и в целом, будет отвечать за визуальную целостность продукта. 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7DFE8BD-6F8B-4EFA-BCAE-A6C552E16D52}"/>
              </a:ext>
            </a:extLst>
          </p:cNvPr>
          <p:cNvSpPr/>
          <p:nvPr/>
        </p:nvSpPr>
        <p:spPr>
          <a:xfrm>
            <a:off x="833845" y="2507199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E6F3548-DFA8-49D2-8076-B4D1443F3988}"/>
              </a:ext>
            </a:extLst>
          </p:cNvPr>
          <p:cNvSpPr/>
          <p:nvPr/>
        </p:nvSpPr>
        <p:spPr>
          <a:xfrm>
            <a:off x="833845" y="5397752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18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C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6DAA7CD-14C7-4522-A4E6-E642B343272A}"/>
              </a:ext>
            </a:extLst>
          </p:cNvPr>
          <p:cNvSpPr/>
          <p:nvPr/>
        </p:nvSpPr>
        <p:spPr>
          <a:xfrm>
            <a:off x="0" y="-150471"/>
            <a:ext cx="12192000" cy="139409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Команда проекта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8B09F-D6EB-49BD-A096-49A189311060}"/>
              </a:ext>
            </a:extLst>
          </p:cNvPr>
          <p:cNvSpPr txBox="1"/>
          <p:nvPr/>
        </p:nvSpPr>
        <p:spPr>
          <a:xfrm>
            <a:off x="1186789" y="2122127"/>
            <a:ext cx="10191123" cy="10940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Frontend-</a:t>
            </a:r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разработчик занимается разработкой видимой части сайта, согласно макетам полученным от дизайнера. Обеспечивает корректное взаимодействие клиентской части с </a:t>
            </a:r>
            <a:r>
              <a:rPr lang="en-US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backend</a:t>
            </a:r>
            <a:r>
              <a:rPr lang="ru-RU" dirty="0">
                <a:latin typeface="Cascadia Code SemiLight" panose="020B0609020000020004" pitchFamily="49" charset="0"/>
                <a:ea typeface="Fast_Serif" panose="02020602040305020204" pitchFamily="18" charset="0"/>
                <a:cs typeface="Cascadia Code SemiLight" panose="020B0609020000020004" pitchFamily="49" charset="0"/>
              </a:rPr>
              <a:t>-ом.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93D09-418E-44F7-9DC0-B7A34DA600A6}"/>
              </a:ext>
            </a:extLst>
          </p:cNvPr>
          <p:cNvSpPr txBox="1"/>
          <p:nvPr/>
        </p:nvSpPr>
        <p:spPr>
          <a:xfrm>
            <a:off x="1186790" y="3598811"/>
            <a:ext cx="10191123" cy="9664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Backend-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разработчик организует необходимую архитектуру серверной части </a:t>
            </a:r>
          </a:p>
          <a:p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приложения и будет заниматься реализацией бизнес-логики приложения. Также</a:t>
            </a:r>
          </a:p>
          <a:p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возьмет на себя задачу создания </a:t>
            </a:r>
            <a:r>
              <a:rPr lang="en-US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Telegram-</a:t>
            </a:r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бота.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35DE1B7-08AB-420E-B5A5-8D784FD111D7}"/>
              </a:ext>
            </a:extLst>
          </p:cNvPr>
          <p:cNvSpPr/>
          <p:nvPr/>
        </p:nvSpPr>
        <p:spPr>
          <a:xfrm>
            <a:off x="833845" y="3867979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1A81D7-E117-4064-A1F7-632F1801D4ED}"/>
              </a:ext>
            </a:extLst>
          </p:cNvPr>
          <p:cNvSpPr txBox="1"/>
          <p:nvPr/>
        </p:nvSpPr>
        <p:spPr>
          <a:xfrm>
            <a:off x="1186790" y="4947921"/>
            <a:ext cx="10191123" cy="1094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Маркетолог разработает стратегию для продвижения бренда, настроит рекламу для проекта и будет заниматься анализом ее эффективности. Дополнительно, возьмет на себя работу с соц. сетями.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7DFE8BD-6F8B-4EFA-BCAE-A6C552E16D52}"/>
              </a:ext>
            </a:extLst>
          </p:cNvPr>
          <p:cNvSpPr/>
          <p:nvPr/>
        </p:nvSpPr>
        <p:spPr>
          <a:xfrm>
            <a:off x="833845" y="2507199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E6F3548-DFA8-49D2-8076-B4D1443F3988}"/>
              </a:ext>
            </a:extLst>
          </p:cNvPr>
          <p:cNvSpPr/>
          <p:nvPr/>
        </p:nvSpPr>
        <p:spPr>
          <a:xfrm>
            <a:off x="833845" y="5397752"/>
            <a:ext cx="97536" cy="972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59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C3273-6AB8-4D25-8BFF-D06DD1E6A1E4}"/>
              </a:ext>
            </a:extLst>
          </p:cNvPr>
          <p:cNvSpPr txBox="1"/>
          <p:nvPr/>
        </p:nvSpPr>
        <p:spPr>
          <a:xfrm>
            <a:off x="4340888" y="2896437"/>
            <a:ext cx="4983983" cy="17057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800" dirty="0">
                <a:solidFill>
                  <a:srgbClr val="E9EB9E"/>
                </a:solidFill>
                <a:latin typeface="Fast_Serif" panose="02020602040305020204" pitchFamily="18" charset="0"/>
                <a:ea typeface="Fast_Serif" panose="02020602040305020204" pitchFamily="18" charset="0"/>
                <a:cs typeface="Fast_Serif" panose="02020602040305020204" pitchFamily="18" charset="0"/>
              </a:rPr>
              <a:t>THE END.</a:t>
            </a:r>
            <a:endParaRPr lang="ru-RU" sz="4800" dirty="0">
              <a:solidFill>
                <a:srgbClr val="E9EB9E"/>
              </a:solidFill>
              <a:latin typeface="Fast_Serif" panose="02020602040305020204" pitchFamily="18" charset="0"/>
              <a:ea typeface="Fast_Serif" panose="02020602040305020204" pitchFamily="18" charset="0"/>
              <a:cs typeface="Fast_Serif" panose="020206020403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1871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378</Words>
  <Application>Microsoft Office PowerPoint</Application>
  <PresentationFormat>Широкоэкранный</PresentationFormat>
  <Paragraphs>28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Bahnschrift Light</vt:lpstr>
      <vt:lpstr>Calibri</vt:lpstr>
      <vt:lpstr>Calibri Light</vt:lpstr>
      <vt:lpstr>Cascadia Code SemiLight</vt:lpstr>
      <vt:lpstr>Fast_Serif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Etofamiliya</dc:creator>
  <cp:lastModifiedBy>Etofamiliya</cp:lastModifiedBy>
  <cp:revision>24</cp:revision>
  <dcterms:created xsi:type="dcterms:W3CDTF">2026-02-07T19:30:17Z</dcterms:created>
  <dcterms:modified xsi:type="dcterms:W3CDTF">2026-02-08T00:27:02Z</dcterms:modified>
</cp:coreProperties>
</file>